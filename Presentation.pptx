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256" r:id="rId5"/>
    <p:sldId id="258" r:id="rId6"/>
    <p:sldId id="283" r:id="rId7"/>
    <p:sldId id="287" r:id="rId8"/>
    <p:sldId id="282" r:id="rId9"/>
    <p:sldId id="285" r:id="rId10"/>
    <p:sldId id="28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2" autoAdjust="0"/>
    <p:restoredTop sz="90655" autoAdjust="0"/>
  </p:normalViewPr>
  <p:slideViewPr>
    <p:cSldViewPr snapToGrid="0">
      <p:cViewPr varScale="1">
        <p:scale>
          <a:sx n="57" d="100"/>
          <a:sy n="57" d="100"/>
        </p:scale>
        <p:origin x="1038" y="78"/>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12/30/2025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12/30/2025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7C158F-21F8-A922-6A3D-BB5A5D62A8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F2A3B-BB74-D6AB-011D-4FA310C95B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6F3727-32C3-8EFE-8309-C1AB0F1A19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2039A9-34D3-3C99-8E29-4E97E1CA806D}"/>
              </a:ext>
            </a:extLst>
          </p:cNvPr>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37333526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88AE4-9E3B-C7A0-4BF4-C06C4368E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12014-6A2E-E8F5-B89F-FEC6DCAAE6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8020EE-3753-E6EB-A06A-FAF9778A86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D8BFBF-7D66-C620-95B5-64B37B628FBC}"/>
              </a:ext>
            </a:extLst>
          </p:cNvPr>
          <p:cNvSpPr>
            <a:spLocks noGrp="1"/>
          </p:cNvSpPr>
          <p:nvPr>
            <p:ph type="sldNum" sz="quarter" idx="5"/>
          </p:nvPr>
        </p:nvSpPr>
        <p:spPr/>
        <p:txBody>
          <a:bodyPr/>
          <a:lstStyle/>
          <a:p>
            <a:fld id="{22289C57-55D7-40A4-A101-E74FAC7A092B}" type="slidenum">
              <a:rPr lang="en-US" smtClean="0"/>
              <a:t>4</a:t>
            </a:fld>
            <a:endParaRPr lang="en-US" dirty="0"/>
          </a:p>
        </p:txBody>
      </p:sp>
    </p:spTree>
    <p:extLst>
      <p:ext uri="{BB962C8B-B14F-4D97-AF65-F5344CB8AC3E}">
        <p14:creationId xmlns:p14="http://schemas.microsoft.com/office/powerpoint/2010/main" val="33470946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2366593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51404-7C11-0A14-F5FF-8DC8BA768D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626FE3-9F98-32BB-5DDC-4999FD1F3D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75278E-3353-627C-43FC-B85263AF68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3EEB51-BC77-4F15-F2EF-9ED42605B8AF}"/>
              </a:ext>
            </a:extLst>
          </p:cNvPr>
          <p:cNvSpPr>
            <a:spLocks noGrp="1"/>
          </p:cNvSpPr>
          <p:nvPr>
            <p:ph type="sldNum" sz="quarter" idx="5"/>
          </p:nvPr>
        </p:nvSpPr>
        <p:spPr/>
        <p:txBody>
          <a:bodyPr/>
          <a:lstStyle/>
          <a:p>
            <a:fld id="{22289C57-55D7-40A4-A101-E74FAC7A092B}" type="slidenum">
              <a:rPr lang="en-US" smtClean="0"/>
              <a:t>6</a:t>
            </a:fld>
            <a:endParaRPr lang="en-US" dirty="0"/>
          </a:p>
        </p:txBody>
      </p:sp>
    </p:spTree>
    <p:extLst>
      <p:ext uri="{BB962C8B-B14F-4D97-AF65-F5344CB8AC3E}">
        <p14:creationId xmlns:p14="http://schemas.microsoft.com/office/powerpoint/2010/main" val="2035340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FA7CA-F499-D8BD-C428-51439C89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29ED97-3670-CBA0-60F9-5047C8FE2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5EFFF-F30C-74BB-2125-BC4E79B6C7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8C7E857-421D-26D4-2265-BAE365B64AFB}"/>
              </a:ext>
            </a:extLst>
          </p:cNvPr>
          <p:cNvSpPr>
            <a:spLocks noGrp="1"/>
          </p:cNvSpPr>
          <p:nvPr>
            <p:ph type="sldNum" sz="quarter" idx="5"/>
          </p:nvPr>
        </p:nvSpPr>
        <p:spPr/>
        <p:txBody>
          <a:bodyPr/>
          <a:lstStyle/>
          <a:p>
            <a:fld id="{22289C57-55D7-40A4-A101-E74FAC7A092B}" type="slidenum">
              <a:rPr lang="en-US" smtClean="0"/>
              <a:t>7</a:t>
            </a:fld>
            <a:endParaRPr lang="en-US" dirty="0"/>
          </a:p>
        </p:txBody>
      </p:sp>
    </p:spTree>
    <p:extLst>
      <p:ext uri="{BB962C8B-B14F-4D97-AF65-F5344CB8AC3E}">
        <p14:creationId xmlns:p14="http://schemas.microsoft.com/office/powerpoint/2010/main" val="370376956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6441918" y="3329790"/>
            <a:ext cx="4941771" cy="3200400"/>
          </a:xfrm>
        </p:spPr>
        <p:txBody>
          <a:bodyPr anchor="ctr"/>
          <a:lstStyle/>
          <a:p>
            <a:pPr algn="ctr"/>
            <a:r>
              <a:rPr lang="en-US" sz="3200" dirty="0"/>
              <a:t>Data ANALYSIS PRESENTATION BY ISHEANOPA B. SHUMBA</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1"/>
            <a:ext cx="7288282" cy="798440"/>
          </a:xfrm>
        </p:spPr>
        <p:txBody>
          <a:bodyPr/>
          <a:lstStyle/>
          <a:p>
            <a:r>
              <a:rPr lang="en-US" dirty="0"/>
              <a:t>Introduction</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575733" y="1337734"/>
            <a:ext cx="10176933" cy="4832396"/>
          </a:xfrm>
        </p:spPr>
        <p:txBody>
          <a:bodyPr>
            <a:normAutofit/>
          </a:bodyPr>
          <a:lstStyle/>
          <a:p>
            <a:pPr marL="285750" indent="-285750">
              <a:buFont typeface="Arial" panose="020B0604020202020204" pitchFamily="34" charset="0"/>
              <a:buChar char="•"/>
            </a:pPr>
            <a:r>
              <a:rPr lang="en-US" sz="2400" b="0" dirty="0"/>
              <a:t>Hi everyone, thank you for the opportunity.</a:t>
            </a:r>
            <a:br>
              <a:rPr lang="en-US" sz="2400" b="0" dirty="0"/>
            </a:br>
            <a:r>
              <a:rPr lang="en-US" sz="2400" b="0" dirty="0"/>
              <a:t>In this video, I’ll walk you through the key findings from the load issues report, highlight the main patterns I observed, and share recommendations.</a:t>
            </a:r>
          </a:p>
          <a:p>
            <a:pPr marL="285750" indent="-285750">
              <a:buFont typeface="Arial" panose="020B0604020202020204" pitchFamily="34" charset="0"/>
              <a:buChar char="•"/>
            </a:pPr>
            <a:r>
              <a:rPr lang="en-US" sz="2400" b="0" dirty="0"/>
              <a:t>This report summarizes loads with issues by dispatcher and team, focusing on both the number of affected loads and the total duration of unresolved issues.</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29B45-8CA3-9DD6-9373-86D10DCEE7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F8185C-3737-5079-B47D-1FD9A181864A}"/>
              </a:ext>
            </a:extLst>
          </p:cNvPr>
          <p:cNvSpPr>
            <a:spLocks noGrp="1"/>
          </p:cNvSpPr>
          <p:nvPr>
            <p:ph type="title"/>
          </p:nvPr>
        </p:nvSpPr>
        <p:spPr>
          <a:xfrm>
            <a:off x="1322318" y="268361"/>
            <a:ext cx="7288282" cy="798440"/>
          </a:xfrm>
        </p:spPr>
        <p:txBody>
          <a:bodyPr/>
          <a:lstStyle/>
          <a:p>
            <a:r>
              <a:rPr lang="en-US" dirty="0"/>
              <a:t>KEY FINDINGS</a:t>
            </a:r>
          </a:p>
        </p:txBody>
      </p:sp>
      <p:sp>
        <p:nvSpPr>
          <p:cNvPr id="3" name="Text Placeholder 2">
            <a:extLst>
              <a:ext uri="{FF2B5EF4-FFF2-40B4-BE49-F238E27FC236}">
                <a16:creationId xmlns:a16="http://schemas.microsoft.com/office/drawing/2014/main" id="{38A028C4-990F-58A6-BE84-6FBC89E35169}"/>
              </a:ext>
            </a:extLst>
          </p:cNvPr>
          <p:cNvSpPr>
            <a:spLocks noGrp="1"/>
          </p:cNvSpPr>
          <p:nvPr>
            <p:ph sz="half" idx="2"/>
          </p:nvPr>
        </p:nvSpPr>
        <p:spPr>
          <a:xfrm>
            <a:off x="575733" y="1337734"/>
            <a:ext cx="10176933" cy="4832396"/>
          </a:xfrm>
        </p:spPr>
        <p:txBody>
          <a:bodyPr>
            <a:normAutofit/>
          </a:bodyPr>
          <a:lstStyle/>
          <a:p>
            <a:pPr marL="285750" indent="-285750">
              <a:buFont typeface="Arial" panose="020B0604020202020204" pitchFamily="34" charset="0"/>
              <a:buChar char="•"/>
            </a:pPr>
            <a:r>
              <a:rPr lang="en-US" sz="2000" b="0" dirty="0"/>
              <a:t>Starting with the overall findings, a small number of teams and dispatchers are responsible for a disproportionately high share of unresolved issue duration.</a:t>
            </a:r>
          </a:p>
          <a:p>
            <a:pPr marL="285750" indent="-285750">
              <a:buFont typeface="Arial" panose="020B0604020202020204" pitchFamily="34" charset="0"/>
              <a:buChar char="•"/>
            </a:pPr>
            <a:r>
              <a:rPr lang="en-US" sz="2000" b="0" dirty="0"/>
              <a:t>For example, the Aris team, particularly Liam Peterson and Nolan Pierce, shows the highest impact, with six problematic loads each and total issue durations of 71 and 64 days respectively.</a:t>
            </a:r>
          </a:p>
          <a:p>
            <a:pPr marL="285750" indent="-285750">
              <a:buFont typeface="Arial" panose="020B0604020202020204" pitchFamily="34" charset="0"/>
              <a:buChar char="•"/>
            </a:pPr>
            <a:r>
              <a:rPr lang="en-US" sz="2000" b="0" dirty="0"/>
              <a:t>This indicates that while the number of issues is important, the aging of those issues is a much bigger operational risk.</a:t>
            </a:r>
          </a:p>
          <a:p>
            <a:pPr marL="285750" indent="-285750">
              <a:buFont typeface="Arial" panose="020B0604020202020204" pitchFamily="34" charset="0"/>
              <a:buChar char="•"/>
            </a:pPr>
            <a:r>
              <a:rPr lang="en-US" sz="2000" b="0" dirty="0"/>
              <a:t>On the August team, we see several dispatchers with fewer loads but still meaningful total durations, such as Nathaniel Scott and Oscar Mitchell, which suggests delays are persisting even when issue volume is relatively low.</a:t>
            </a:r>
          </a:p>
          <a:p>
            <a:pPr marL="285750" indent="-285750">
              <a:buFont typeface="Arial" panose="020B0604020202020204" pitchFamily="34" charset="0"/>
              <a:buChar char="•"/>
            </a:pPr>
            <a:r>
              <a:rPr lang="en-US" sz="2000" b="0" dirty="0"/>
              <a:t>Overall, the data shows that issue duration is not evenly distributed, and a few long-running cases are driving most of the exposure</a:t>
            </a:r>
          </a:p>
        </p:txBody>
      </p:sp>
      <p:sp>
        <p:nvSpPr>
          <p:cNvPr id="14" name="Slide Number Placeholder 5">
            <a:extLst>
              <a:ext uri="{FF2B5EF4-FFF2-40B4-BE49-F238E27FC236}">
                <a16:creationId xmlns:a16="http://schemas.microsoft.com/office/drawing/2014/main" id="{9D780AFE-05C3-7377-46F8-28953557260C}"/>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750183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DEBCC-C32C-FABA-CD66-C99682D44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041053-84E2-D702-6CF9-7230C881E4FD}"/>
              </a:ext>
            </a:extLst>
          </p:cNvPr>
          <p:cNvSpPr>
            <a:spLocks noGrp="1"/>
          </p:cNvSpPr>
          <p:nvPr>
            <p:ph type="title"/>
          </p:nvPr>
        </p:nvSpPr>
        <p:spPr>
          <a:xfrm>
            <a:off x="1087121" y="277607"/>
            <a:ext cx="4602480" cy="524932"/>
          </a:xfrm>
        </p:spPr>
        <p:txBody>
          <a:bodyPr/>
          <a:lstStyle/>
          <a:p>
            <a:r>
              <a:rPr lang="en-US" dirty="0"/>
              <a:t>REPORT</a:t>
            </a:r>
          </a:p>
        </p:txBody>
      </p:sp>
      <p:pic>
        <p:nvPicPr>
          <p:cNvPr id="4" name="Content Placeholder 3">
            <a:extLst>
              <a:ext uri="{FF2B5EF4-FFF2-40B4-BE49-F238E27FC236}">
                <a16:creationId xmlns:a16="http://schemas.microsoft.com/office/drawing/2014/main" id="{43515EE6-D2B6-52FE-7012-DC456CA59BEB}"/>
              </a:ext>
            </a:extLst>
          </p:cNvPr>
          <p:cNvPicPr>
            <a:picLocks noGrp="1" noChangeAspect="1"/>
          </p:cNvPicPr>
          <p:nvPr>
            <p:ph sz="half" idx="14"/>
          </p:nvPr>
        </p:nvPicPr>
        <p:blipFill>
          <a:blip r:embed="rId3"/>
          <a:stretch>
            <a:fillRect/>
          </a:stretch>
        </p:blipFill>
        <p:spPr>
          <a:xfrm>
            <a:off x="2887133" y="802540"/>
            <a:ext cx="6417734" cy="5553809"/>
          </a:xfrm>
          <a:prstGeom prst="rect">
            <a:avLst/>
          </a:prstGeom>
        </p:spPr>
      </p:pic>
      <p:sp>
        <p:nvSpPr>
          <p:cNvPr id="68" name="Slide Number Placeholder 67">
            <a:extLst>
              <a:ext uri="{FF2B5EF4-FFF2-40B4-BE49-F238E27FC236}">
                <a16:creationId xmlns:a16="http://schemas.microsoft.com/office/drawing/2014/main" id="{D705FA63-076B-72B7-C85E-B486A12A669A}"/>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12392770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27D9B3-B64F-656A-0D99-161A6C0F518F}"/>
              </a:ext>
            </a:extLst>
          </p:cNvPr>
          <p:cNvSpPr>
            <a:spLocks noGrp="1"/>
          </p:cNvSpPr>
          <p:nvPr>
            <p:ph type="title"/>
          </p:nvPr>
        </p:nvSpPr>
        <p:spPr>
          <a:xfrm>
            <a:off x="1087121" y="501652"/>
            <a:ext cx="4602480" cy="524932"/>
          </a:xfrm>
        </p:spPr>
        <p:txBody>
          <a:bodyPr/>
          <a:lstStyle/>
          <a:p>
            <a:r>
              <a:rPr lang="en-US" dirty="0"/>
              <a:t>Patterns and Insights</a:t>
            </a:r>
          </a:p>
        </p:txBody>
      </p:sp>
      <p:sp>
        <p:nvSpPr>
          <p:cNvPr id="14" name="Content Placeholder 13">
            <a:extLst>
              <a:ext uri="{FF2B5EF4-FFF2-40B4-BE49-F238E27FC236}">
                <a16:creationId xmlns:a16="http://schemas.microsoft.com/office/drawing/2014/main" id="{5112969F-EB84-49D5-7100-1FB28870FB30}"/>
              </a:ext>
            </a:extLst>
          </p:cNvPr>
          <p:cNvSpPr>
            <a:spLocks noGrp="1"/>
          </p:cNvSpPr>
          <p:nvPr>
            <p:ph sz="half" idx="14"/>
          </p:nvPr>
        </p:nvSpPr>
        <p:spPr>
          <a:xfrm>
            <a:off x="831098" y="1557867"/>
            <a:ext cx="10327969" cy="4798481"/>
          </a:xfrm>
        </p:spPr>
        <p:txBody>
          <a:bodyPr>
            <a:normAutofit/>
          </a:bodyPr>
          <a:lstStyle/>
          <a:p>
            <a:pPr marL="285750" indent="-285750">
              <a:buFont typeface="Arial" panose="020B0604020202020204" pitchFamily="34" charset="0"/>
              <a:buChar char="•"/>
            </a:pPr>
            <a:r>
              <a:rPr lang="en-US" sz="2400" dirty="0"/>
              <a:t>One clear pattern is that issue severity is driven more by duration than volume.</a:t>
            </a:r>
            <a:br>
              <a:rPr lang="en-US" sz="2400" dirty="0"/>
            </a:br>
            <a:r>
              <a:rPr lang="en-US" sz="2400" dirty="0"/>
              <a:t>Some dispatchers have only one or two problematic loads, yet those loads have remained unresolved for more than two weeks.</a:t>
            </a:r>
          </a:p>
          <a:p>
            <a:pPr marL="285750" indent="-285750">
              <a:buFont typeface="Arial" panose="020B0604020202020204" pitchFamily="34" charset="0"/>
              <a:buChar char="•"/>
            </a:pPr>
            <a:r>
              <a:rPr lang="en-US" sz="2400" dirty="0"/>
              <a:t>Another insight is that teams with higher total durations tend to have multiple aged issues, which may indicate either workflow bottlenecks, delayed documentation follow-ups, or insufficient escalation mechanisms.</a:t>
            </a:r>
          </a:p>
          <a:p>
            <a:pPr marL="285750" indent="-285750">
              <a:buFont typeface="Arial" panose="020B0604020202020204" pitchFamily="34" charset="0"/>
              <a:buChar char="•"/>
            </a:pPr>
            <a:r>
              <a:rPr lang="en-US" sz="2400" dirty="0"/>
              <a:t>Additionally, since the report excludes short-duration “Awaiting Money” cases, this confirms that the remaining issues represent genuinely overdue or high-risk cases, not normal processing delays.</a:t>
            </a:r>
          </a:p>
        </p:txBody>
      </p:sp>
      <p:sp>
        <p:nvSpPr>
          <p:cNvPr id="68" name="Slide Number Placeholder 67">
            <a:extLst>
              <a:ext uri="{FF2B5EF4-FFF2-40B4-BE49-F238E27FC236}">
                <a16:creationId xmlns:a16="http://schemas.microsoft.com/office/drawing/2014/main" id="{AA0ACADD-CC4E-851C-DA07-C22DB97FA23E}"/>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636929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3B699-D38E-6FB3-5D30-502507BFB4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331544-7417-1749-A390-97A016193CA6}"/>
              </a:ext>
            </a:extLst>
          </p:cNvPr>
          <p:cNvSpPr>
            <a:spLocks noGrp="1"/>
          </p:cNvSpPr>
          <p:nvPr>
            <p:ph type="title"/>
          </p:nvPr>
        </p:nvSpPr>
        <p:spPr>
          <a:xfrm>
            <a:off x="1087121" y="501652"/>
            <a:ext cx="4602480" cy="524932"/>
          </a:xfrm>
        </p:spPr>
        <p:txBody>
          <a:bodyPr/>
          <a:lstStyle/>
          <a:p>
            <a:r>
              <a:rPr lang="en-US" dirty="0"/>
              <a:t>Results Summary</a:t>
            </a:r>
          </a:p>
        </p:txBody>
      </p:sp>
      <p:sp>
        <p:nvSpPr>
          <p:cNvPr id="14" name="Content Placeholder 13">
            <a:extLst>
              <a:ext uri="{FF2B5EF4-FFF2-40B4-BE49-F238E27FC236}">
                <a16:creationId xmlns:a16="http://schemas.microsoft.com/office/drawing/2014/main" id="{B7626E8F-2243-729A-126E-F6B500277B54}"/>
              </a:ext>
            </a:extLst>
          </p:cNvPr>
          <p:cNvSpPr>
            <a:spLocks noGrp="1"/>
          </p:cNvSpPr>
          <p:nvPr>
            <p:ph sz="half" idx="14"/>
          </p:nvPr>
        </p:nvSpPr>
        <p:spPr>
          <a:xfrm>
            <a:off x="831098" y="1557867"/>
            <a:ext cx="10327969" cy="4798481"/>
          </a:xfrm>
        </p:spPr>
        <p:txBody>
          <a:bodyPr>
            <a:normAutofit/>
          </a:bodyPr>
          <a:lstStyle/>
          <a:p>
            <a:r>
              <a:rPr lang="en-US" sz="2400" dirty="0"/>
              <a:t>To summarize the results:</a:t>
            </a:r>
          </a:p>
          <a:p>
            <a:pPr marL="342900" indent="-342900">
              <a:buFont typeface="Arial" panose="020B0604020202020204" pitchFamily="34" charset="0"/>
              <a:buChar char="•"/>
            </a:pPr>
            <a:r>
              <a:rPr lang="en-US" sz="2400" dirty="0"/>
              <a:t>A small group of dispatchers account for most unresolved issue days</a:t>
            </a:r>
          </a:p>
          <a:p>
            <a:pPr marL="342900" indent="-342900">
              <a:buFont typeface="Arial" panose="020B0604020202020204" pitchFamily="34" charset="0"/>
              <a:buChar char="•"/>
            </a:pPr>
            <a:r>
              <a:rPr lang="en-US" sz="2400" dirty="0"/>
              <a:t>Long-standing issues are a bigger concern than issue count alone</a:t>
            </a:r>
          </a:p>
          <a:p>
            <a:pPr marL="342900" indent="-342900">
              <a:buFont typeface="Arial" panose="020B0604020202020204" pitchFamily="34" charset="0"/>
              <a:buChar char="•"/>
            </a:pPr>
            <a:r>
              <a:rPr lang="en-US" sz="2400" dirty="0"/>
              <a:t>Certain teams may benefit from targeted process reviews rather than broad changes</a:t>
            </a:r>
          </a:p>
          <a:p>
            <a:pPr marL="342900" indent="-342900">
              <a:buFont typeface="Arial" panose="020B0604020202020204" pitchFamily="34" charset="0"/>
              <a:buChar char="•"/>
            </a:pPr>
            <a:r>
              <a:rPr lang="en-US" sz="2400" dirty="0"/>
              <a:t>This ranking approach helps prioritize where action will have the biggest impact</a:t>
            </a:r>
          </a:p>
        </p:txBody>
      </p:sp>
      <p:sp>
        <p:nvSpPr>
          <p:cNvPr id="68" name="Slide Number Placeholder 67">
            <a:extLst>
              <a:ext uri="{FF2B5EF4-FFF2-40B4-BE49-F238E27FC236}">
                <a16:creationId xmlns:a16="http://schemas.microsoft.com/office/drawing/2014/main" id="{5ECD0172-F559-DC20-9E62-1E6AFE22006D}"/>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6</a:t>
            </a:fld>
            <a:endParaRPr lang="en-US" dirty="0"/>
          </a:p>
        </p:txBody>
      </p:sp>
    </p:spTree>
    <p:extLst>
      <p:ext uri="{BB962C8B-B14F-4D97-AF65-F5344CB8AC3E}">
        <p14:creationId xmlns:p14="http://schemas.microsoft.com/office/powerpoint/2010/main" val="3685975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31F7F-024E-AFE4-1891-40BDCE62B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8D9F59-000B-BCF8-B3F1-689887200088}"/>
              </a:ext>
            </a:extLst>
          </p:cNvPr>
          <p:cNvSpPr>
            <a:spLocks noGrp="1"/>
          </p:cNvSpPr>
          <p:nvPr>
            <p:ph type="title"/>
          </p:nvPr>
        </p:nvSpPr>
        <p:spPr>
          <a:xfrm>
            <a:off x="1087121" y="501652"/>
            <a:ext cx="4602480" cy="524932"/>
          </a:xfrm>
        </p:spPr>
        <p:txBody>
          <a:bodyPr/>
          <a:lstStyle/>
          <a:p>
            <a:r>
              <a:rPr lang="en-US" dirty="0"/>
              <a:t>Recommendations</a:t>
            </a:r>
          </a:p>
        </p:txBody>
      </p:sp>
      <p:sp>
        <p:nvSpPr>
          <p:cNvPr id="14" name="Content Placeholder 13">
            <a:extLst>
              <a:ext uri="{FF2B5EF4-FFF2-40B4-BE49-F238E27FC236}">
                <a16:creationId xmlns:a16="http://schemas.microsoft.com/office/drawing/2014/main" id="{5FBF86FF-1CE5-276A-EF87-2CA0BD72FD35}"/>
              </a:ext>
            </a:extLst>
          </p:cNvPr>
          <p:cNvSpPr>
            <a:spLocks noGrp="1"/>
          </p:cNvSpPr>
          <p:nvPr>
            <p:ph sz="half" idx="14"/>
          </p:nvPr>
        </p:nvSpPr>
        <p:spPr>
          <a:xfrm>
            <a:off x="831098" y="1557867"/>
            <a:ext cx="10327969" cy="4798481"/>
          </a:xfrm>
        </p:spPr>
        <p:txBody>
          <a:bodyPr>
            <a:normAutofit lnSpcReduction="10000"/>
          </a:bodyPr>
          <a:lstStyle/>
          <a:p>
            <a:r>
              <a:rPr lang="en-US" sz="2000" dirty="0"/>
              <a:t>Based on the analysis, I would recommend a few improvements.</a:t>
            </a:r>
          </a:p>
          <a:p>
            <a:pPr marL="342900" indent="-342900">
              <a:buFont typeface="Arial" panose="020B0604020202020204" pitchFamily="34" charset="0"/>
              <a:buChar char="•"/>
            </a:pPr>
            <a:r>
              <a:rPr lang="en-US" sz="2400" dirty="0"/>
              <a:t>First, introduce </a:t>
            </a:r>
            <a:r>
              <a:rPr lang="en-US" sz="2400" b="1" dirty="0"/>
              <a:t>age-based escalation thresholds</a:t>
            </a:r>
            <a:r>
              <a:rPr lang="en-US" sz="2400" dirty="0"/>
              <a:t>, for example flagging any issue older than 10 or 14 days for automatic review.</a:t>
            </a:r>
          </a:p>
          <a:p>
            <a:pPr marL="342900" indent="-342900">
              <a:buFont typeface="Arial" panose="020B0604020202020204" pitchFamily="34" charset="0"/>
              <a:buChar char="•"/>
            </a:pPr>
            <a:r>
              <a:rPr lang="en-US" sz="2400" dirty="0"/>
              <a:t>Second, implement a </a:t>
            </a:r>
            <a:r>
              <a:rPr lang="en-US" sz="2400" b="1" dirty="0"/>
              <a:t>weekly aging dashboard</a:t>
            </a:r>
            <a:r>
              <a:rPr lang="en-US" sz="2400" dirty="0"/>
              <a:t> that focuses on total duration rather than just issue count, so teams can address problems before they become critical.</a:t>
            </a:r>
          </a:p>
          <a:p>
            <a:pPr marL="342900" indent="-342900">
              <a:buFont typeface="Arial" panose="020B0604020202020204" pitchFamily="34" charset="0"/>
              <a:buChar char="•"/>
            </a:pPr>
            <a:r>
              <a:rPr lang="en-US" sz="2400" dirty="0"/>
              <a:t>Third, standardize issue categorization in the Notes field or move it to a structured dropdown. This would reduce ambiguity and improve reporting accuracy.</a:t>
            </a:r>
          </a:p>
          <a:p>
            <a:pPr marL="342900" indent="-342900">
              <a:buFont typeface="Arial" panose="020B0604020202020204" pitchFamily="34" charset="0"/>
              <a:buChar char="•"/>
            </a:pPr>
            <a:r>
              <a:rPr lang="en-US" sz="2400" dirty="0"/>
              <a:t>Finally, focus coaching or process audits on dispatchers and teams with consistently high total durations, as this is where efficiency gains are most likely</a:t>
            </a:r>
          </a:p>
        </p:txBody>
      </p:sp>
      <p:sp>
        <p:nvSpPr>
          <p:cNvPr id="68" name="Slide Number Placeholder 67">
            <a:extLst>
              <a:ext uri="{FF2B5EF4-FFF2-40B4-BE49-F238E27FC236}">
                <a16:creationId xmlns:a16="http://schemas.microsoft.com/office/drawing/2014/main" id="{9129C2D7-6454-DA15-9826-C7C02582FDC4}"/>
              </a:ext>
            </a:extLst>
          </p:cNvPr>
          <p:cNvSpPr>
            <a:spLocks noGrp="1"/>
          </p:cNvSpPr>
          <p:nvPr>
            <p:ph type="sldNum" sz="quarter" idx="13"/>
          </p:nvPr>
        </p:nvSpPr>
        <p:spPr>
          <a:xfrm>
            <a:off x="10373350" y="6356349"/>
            <a:ext cx="987552" cy="365125"/>
          </a:xfrm>
        </p:spPr>
        <p:txBody>
          <a:bodyPr/>
          <a:lstStyle/>
          <a:p>
            <a:fld id="{A49DFD55-3C28-40EF-9E31-A92D2E4017FF}" type="slidenum">
              <a:rPr lang="en-US" smtClean="0"/>
              <a:pPr/>
              <a:t>7</a:t>
            </a:fld>
            <a:endParaRPr lang="en-US" dirty="0"/>
          </a:p>
        </p:txBody>
      </p:sp>
    </p:spTree>
    <p:extLst>
      <p:ext uri="{BB962C8B-B14F-4D97-AF65-F5344CB8AC3E}">
        <p14:creationId xmlns:p14="http://schemas.microsoft.com/office/powerpoint/2010/main" val="4044536110"/>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CABF691C-888B-4061-8A6F-D5CE84A0254B}">
  <ds:schemaRefs>
    <ds:schemaRef ds:uri="http://schemas.microsoft.com/sharepoint/v3/contenttype/forms"/>
  </ds:schemaRefs>
</ds:datastoreItem>
</file>

<file path=customXml/itemProps3.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{10A3EC5B-1FA6-434D-BCF9-E0605D55E635}tf67328976_win32</Template>
  <TotalTime>16</TotalTime>
  <Words>507</Words>
  <Application>Microsoft Office PowerPoint</Application>
  <PresentationFormat>Widescreen</PresentationFormat>
  <Paragraphs>40</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Tenorite</vt:lpstr>
      <vt:lpstr>Custom</vt:lpstr>
      <vt:lpstr>Data ANALYSIS PRESENTATION BY ISHEANOPA B. SHUMBA</vt:lpstr>
      <vt:lpstr>Introduction</vt:lpstr>
      <vt:lpstr>KEY FINDINGS</vt:lpstr>
      <vt:lpstr>REPORT</vt:lpstr>
      <vt:lpstr>Patterns and Insights</vt:lpstr>
      <vt:lpstr>Results Summary</vt:lpstr>
      <vt:lpstr>Recommendations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Anopa Shumba</dc:creator>
  <cp:lastModifiedBy>Anopa Shumba</cp:lastModifiedBy>
  <cp:revision>2</cp:revision>
  <dcterms:created xsi:type="dcterms:W3CDTF">2025-12-30T20:52:26Z</dcterms:created>
  <dcterms:modified xsi:type="dcterms:W3CDTF">2025-12-30T21:08:38Z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